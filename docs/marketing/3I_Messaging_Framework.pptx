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54864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i="1" dirty="0">
                <a:solidFill>
                  <a:srgbClr val="D98BAA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10058400" y="123444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i="1" dirty="0">
                <a:solidFill>
                  <a:srgbClr val="7FB2D6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064240" y="192024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i="1" dirty="0">
                <a:solidFill>
                  <a:srgbClr val="A2BC72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  ·  MESSAGING STRATEGY BRIEF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pPr indent="0" marL="0">
              <a:buNone/>
            </a:pPr>
            <a:r>
              <a:rPr lang="en-US" sz="5200" b="1" i="1" dirty="0">
                <a:solidFill>
                  <a:srgbClr val="A0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3I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Framework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Attention   ·   International   ·   Industry Trajectory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for every ISME communication — home page and brochure alike. A working brief for the Website and PR teams’ brainstorm session.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 </a:t>
            </a:r>
            <a:pPr indent="0" marL="0">
              <a:buNone/>
            </a:pPr>
            <a:r>
              <a:rPr lang="en-US" sz="1050" dirty="0">
                <a:solidFill>
                  <a:srgbClr val="C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Team + PR Team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050" dirty="0">
                <a:solidFill>
                  <a:srgbClr val="C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working session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050" dirty="0">
                <a:solidFill>
                  <a:srgbClr val="C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Aug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one filter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the site or in print should pass through one of these three ideas.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88900" dist="25400" dir="5400000">
              <a:srgbClr val="1E24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68880"/>
            <a:ext cx="685800" cy="685800"/>
          </a:xfrm>
          <a:prstGeom prst="ellipse">
            <a:avLst/>
          </a:prstGeom>
          <a:solidFill>
            <a:srgbClr val="7A365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505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Attention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9319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a batch number.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5148072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51480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MAPPED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88900" dist="25400" dir="5400000">
              <a:srgbClr val="1E243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2468880"/>
            <a:ext cx="685800" cy="685800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24505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4681728" y="33832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81728" y="39319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degree that travels.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5148072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51480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MAPPED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71032" y="5148072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4E3C7"/>
          </a:solidFill>
          <a:ln/>
        </p:spPr>
      </p:sp>
      <p:sp>
        <p:nvSpPr>
          <p:cNvPr id="20" name="Text 18"/>
          <p:cNvSpPr/>
          <p:nvPr/>
        </p:nvSpPr>
        <p:spPr>
          <a:xfrm>
            <a:off x="5971032" y="514807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88900" dist="25400" dir="5400000">
              <a:srgbClr val="1E243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22208" y="2468880"/>
            <a:ext cx="685800" cy="685800"/>
          </a:xfrm>
          <a:prstGeom prst="ellipse">
            <a:avLst/>
          </a:prstGeom>
          <a:solidFill>
            <a:srgbClr val="4C5C2A"/>
          </a:solidFill>
          <a:ln/>
        </p:spPr>
      </p:sp>
      <p:sp>
        <p:nvSpPr>
          <p:cNvPr id="23" name="Text 21"/>
          <p:cNvSpPr/>
          <p:nvPr/>
        </p:nvSpPr>
        <p:spPr>
          <a:xfrm>
            <a:off x="8522208" y="24505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8522208" y="338328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Trajectory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22208" y="39319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C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starts on day 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22208" y="5148072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27" name="Text 25"/>
          <p:cNvSpPr/>
          <p:nvPr/>
        </p:nvSpPr>
        <p:spPr>
          <a:xfrm>
            <a:off x="8522208" y="5148072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MAPPED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811512" y="5148072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4E3C7"/>
          </a:solidFill>
          <a:ln/>
        </p:spPr>
      </p:sp>
      <p:sp>
        <p:nvSpPr>
          <p:cNvPr id="29" name="Text 27"/>
          <p:cNvSpPr/>
          <p:nvPr/>
        </p:nvSpPr>
        <p:spPr>
          <a:xfrm>
            <a:off x="9811512" y="514807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02920" cy="502920"/>
          </a:xfrm>
          <a:prstGeom prst="ellipse">
            <a:avLst/>
          </a:prstGeom>
          <a:solidFill>
            <a:srgbClr val="7A36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3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Attention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counter-argument to “just another large batch school.” Make a prospective student picture being known by name — in the classroom and on campus.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76200" dist="25400" dir="5400000">
              <a:srgbClr val="1E243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08576" y="21031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21031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4745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Individualised mentorship, taught by faculty with real industry &amp; international experience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33467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“Learn from Top Faculty”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7124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 </a:t>
            </a:r>
            <a:pPr indent="0" marL="0">
              <a:buNone/>
            </a:pPr>
            <a:r>
              <a:rPr lang="en-US" sz="1150" i="1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“Meet the Faculty” spread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" y="4133088"/>
            <a:ext cx="4745736" cy="1005840"/>
          </a:xfrm>
          <a:prstGeom prst="roundRect">
            <a:avLst>
              <a:gd name="adj" fmla="val 3636"/>
            </a:avLst>
          </a:prstGeom>
          <a:solidFill>
            <a:srgbClr val="E8E3D7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2245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100" kern="0" dirty="0">
                <a:solidFill>
                  <a:srgbClr val="7A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Logo-wall credibility (alma mater / employer badges) is the default. Do we need a format that shows mentorship happening — a faculty:student ratio, an office-hours story, a student quote?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76200" dist="25400" dir="5400000">
              <a:srgbClr val="1E24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186416" y="21031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186416" y="21031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82512" y="2450592"/>
            <a:ext cx="4745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24×7 on-campus experience — residential hostel on a green campus, world-class facilities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82512" y="33467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“Experiential Learning”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2512" y="37124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 </a:t>
            </a:r>
            <a:pPr indent="0" marL="0">
              <a:buNone/>
            </a:pPr>
            <a:r>
              <a:rPr lang="en-US" sz="1150" i="1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“Campus Life” spread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82512" y="4133088"/>
            <a:ext cx="4745736" cy="1005840"/>
          </a:xfrm>
          <a:prstGeom prst="roundRect">
            <a:avLst>
              <a:gd name="adj" fmla="val 3636"/>
            </a:avLst>
          </a:prstGeom>
          <a:solidFill>
            <a:srgbClr val="E8E3D7"/>
          </a:solidFill>
          <a:ln/>
        </p:spPr>
      </p:sp>
      <p:sp>
        <p:nvSpPr>
          <p:cNvPr id="22" name="Text 20"/>
          <p:cNvSpPr/>
          <p:nvPr/>
        </p:nvSpPr>
        <p:spPr>
          <a:xfrm>
            <a:off x="6528816" y="42245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100" kern="0" dirty="0">
                <a:solidFill>
                  <a:srgbClr val="7A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“24×7” (access) and “Experiential Learning” (pedagogy) are two different claims bolted together. Worth splitting into two sub-beats?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02920" cy="502920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3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that a degree from here travels — certifications, faculty, and accreditation a recruiter (or a foreign university) actually recognises.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76200" dist="25400" dir="5400000">
              <a:srgbClr val="1E243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08576" y="21031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21031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4745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Business Certification — Singapore and Germany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33467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section — “International Business Certification”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7124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 </a:t>
            </a:r>
            <a:pPr indent="0" marL="0">
              <a:buNone/>
            </a:pPr>
            <a:r>
              <a:rPr lang="en-US" sz="1150" i="1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“Global Immersion” spread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" y="4133088"/>
            <a:ext cx="4745736" cy="1005840"/>
          </a:xfrm>
          <a:prstGeom prst="roundRect">
            <a:avLst>
              <a:gd name="adj" fmla="val 3636"/>
            </a:avLst>
          </a:prstGeom>
          <a:solidFill>
            <a:srgbClr val="E8E3D7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2245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100" kern="0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“Certification in Singapore and Germany” reads like a study tour unless we're specific — immersion week, semester exchange, or a credential issued by a partner? The word changes the promise.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76200" dist="25400" dir="5400000">
              <a:srgbClr val="1E24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186416" y="21031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1E4C9"/>
          </a:solidFill>
          <a:ln/>
        </p:spPr>
      </p:sp>
      <p:sp>
        <p:nvSpPr>
          <p:cNvPr id="17" name="Text 15"/>
          <p:cNvSpPr/>
          <p:nvPr/>
        </p:nvSpPr>
        <p:spPr>
          <a:xfrm>
            <a:off x="10186416" y="21031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C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34856" y="21031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21031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82512" y="2450592"/>
            <a:ext cx="4745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Coursework designed by intl/industry experts, add-on certification (Harvard, KPMG) + EFMD Accreditation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82512" y="33467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section to design — “Certification”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82512" y="37124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 </a:t>
            </a:r>
            <a:pPr indent="0" marL="0">
              <a:buNone/>
            </a:pPr>
            <a:r>
              <a:rPr lang="en-US" sz="1150" i="1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“Credentials” spread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82512" y="4133088"/>
            <a:ext cx="4745736" cy="1005840"/>
          </a:xfrm>
          <a:prstGeom prst="roundRect">
            <a:avLst>
              <a:gd name="adj" fmla="val 3636"/>
            </a:avLst>
          </a:prstGeom>
          <a:solidFill>
            <a:srgbClr val="E8E3D7"/>
          </a:solidFill>
          <a:ln/>
        </p:spPr>
      </p:sp>
      <p:sp>
        <p:nvSpPr>
          <p:cNvPr id="24" name="Text 22"/>
          <p:cNvSpPr/>
          <p:nvPr/>
        </p:nvSpPr>
        <p:spPr>
          <a:xfrm>
            <a:off x="6528816" y="42245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100" kern="0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Harvard, KPMG and EFMD carry different kinds of weight. PR: confirm exact usage rights and wording for each before this goes public.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E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NO SECTION ASSIGNED YET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“Pathway to global universities”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message in the entire framework with no home yet on either channel.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0607040" cy="2926080"/>
          </a:xfrm>
          <a:prstGeom prst="roundRect">
            <a:avLst>
              <a:gd name="adj" fmla="val 2500"/>
            </a:avLst>
          </a:prstGeom>
          <a:solidFill>
            <a:srgbClr val="FBFAF6"/>
          </a:solidFill>
          <a:ln/>
          <a:effectLst>
            <a:outerShdw sx="100000" sy="100000" kx="0" ky="0" algn="bl" rotWithShape="0" blurRad="101600" dist="25400" dir="5400000">
              <a:srgbClr val="1E24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live beside Certification — the same “international” moment — or does it deserve its own real estate because it's a distinct promise: “we get you OUT,” not “we bring the world IN”?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764024"/>
            <a:ext cx="109728" cy="109728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9" name="Text 7"/>
          <p:cNvSpPr/>
          <p:nvPr/>
        </p:nvSpPr>
        <p:spPr>
          <a:xfrm>
            <a:off x="1261872" y="46360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fold into the Certification section as a closing beat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5175504"/>
            <a:ext cx="109728" cy="109728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11" name="Text 9"/>
          <p:cNvSpPr/>
          <p:nvPr/>
        </p:nvSpPr>
        <p:spPr>
          <a:xfrm>
            <a:off x="1261872" y="5047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give it its own “Global Pathways” block on the home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— Open Item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02920" cy="502920"/>
          </a:xfrm>
          <a:prstGeom prst="ellipse">
            <a:avLst/>
          </a:prstGeom>
          <a:solidFill>
            <a:srgbClr val="4C5C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3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Trajectory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reframed as a four-year trajectory, not a Year-4 event — proof that “industry-ready” isn't just a phrase in the prospectus.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76200" dist="25400" dir="5400000">
              <a:srgbClr val="1E243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18888" y="210312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4E3C7"/>
          </a:solidFill>
          <a:ln/>
        </p:spPr>
      </p:sp>
      <p:sp>
        <p:nvSpPr>
          <p:cNvPr id="9" name="Text 7"/>
          <p:cNvSpPr/>
          <p:nvPr/>
        </p:nvSpPr>
        <p:spPr>
          <a:xfrm>
            <a:off x="4818888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B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4745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ITP — enables students to enter a top company from first year onward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33467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assigned — candidate: its own “Industry Trajectory Program” module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7124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assigned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" y="4133088"/>
            <a:ext cx="4745736" cy="1005840"/>
          </a:xfrm>
          <a:prstGeom prst="roundRect">
            <a:avLst>
              <a:gd name="adj" fmla="val 3636"/>
            </a:avLst>
          </a:prstGeom>
          <a:solidFill>
            <a:srgbClr val="E8E3D7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2245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100" kern="0" dirty="0">
                <a:solidFill>
                  <a:srgbClr val="4C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ITP stand for “Industry Trajectory Program”? If so, it's arguably this pillar's flagship proof point — confirm the acronym before it goes external.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76200" dist="25400" dir="5400000">
              <a:srgbClr val="1E24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65792" y="21031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DCE7D6"/>
          </a:solidFill>
          <a:ln/>
        </p:spPr>
      </p:sp>
      <p:sp>
        <p:nvSpPr>
          <p:cNvPr id="17" name="Text 15"/>
          <p:cNvSpPr/>
          <p:nvPr/>
        </p:nvSpPr>
        <p:spPr>
          <a:xfrm>
            <a:off x="9765792" y="210312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335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×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82512" y="2450592"/>
            <a:ext cx="4745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Deeply embedded with industry from Day 1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82512" y="33467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</a:t>
            </a:r>
            <a:pPr indent="0" marL="0"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“Student Success” and “Placement in Top Companies”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2512" y="37124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 </a:t>
            </a:r>
            <a:pPr indent="0" marL="0">
              <a:buNone/>
            </a:pPr>
            <a:r>
              <a:rPr lang="en-US" sz="1150" i="1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“By the Numbers” spread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82512" y="4133088"/>
            <a:ext cx="4745736" cy="1005840"/>
          </a:xfrm>
          <a:prstGeom prst="roundRect">
            <a:avLst>
              <a:gd name="adj" fmla="val 3636"/>
            </a:avLst>
          </a:prstGeom>
          <a:solidFill>
            <a:srgbClr val="E8E3D7"/>
          </a:solidFill>
          <a:ln/>
        </p:spPr>
      </p:sp>
      <p:sp>
        <p:nvSpPr>
          <p:cNvPr id="22" name="Text 20"/>
          <p:cNvSpPr/>
          <p:nvPr/>
        </p:nvSpPr>
        <p:spPr>
          <a:xfrm>
            <a:off x="6528816" y="42245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100" kern="0" dirty="0">
                <a:solidFill>
                  <a:srgbClr val="4C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message, two sections — does Student Success carry the human story while Placement carries the aggregate proof (logos, numbers)?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Trajectory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WEBSITE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home page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reading of the page if every 3I message gets a slot — a strawman to argue with, not a final 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4114800"/>
          </a:xfrm>
          <a:prstGeom prst="roundRect">
            <a:avLst>
              <a:gd name="adj" fmla="val 1111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 —  Where the 3I line itself could live, as the page's opening thesis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66760" y="2148840"/>
            <a:ext cx="91440" cy="9144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new copy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Top Faculty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2606040"/>
            <a:ext cx="91440" cy="91440"/>
          </a:xfrm>
          <a:prstGeom prst="ellipse">
            <a:avLst/>
          </a:prstGeom>
          <a:solidFill>
            <a:srgbClr val="7A3654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update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2880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Learning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66760" y="3063240"/>
            <a:ext cx="91440" cy="91440"/>
          </a:xfrm>
          <a:prstGeom prst="ellipse">
            <a:avLst/>
          </a:prstGeom>
          <a:solidFill>
            <a:srgbClr val="7A3654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update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Business Certification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3520440"/>
            <a:ext cx="91440" cy="91440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— update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 —  Harvard / KPMG add-ons + EFMD accreditation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66760" y="3977640"/>
            <a:ext cx="91440" cy="91440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29" name="Text 27"/>
          <p:cNvSpPr/>
          <p:nvPr/>
        </p:nvSpPr>
        <p:spPr>
          <a:xfrm>
            <a:off x="854964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— new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34440" y="4251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Pathways  —  Pathway to global universities — placement TBD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66760" y="4434840"/>
            <a:ext cx="91440" cy="91440"/>
          </a:xfrm>
          <a:prstGeom prst="ellipse">
            <a:avLst/>
          </a:prstGeom>
          <a:solidFill>
            <a:srgbClr val="245A7C"/>
          </a:solidFill>
          <a:ln/>
        </p:spPr>
      </p:sp>
      <p:sp>
        <p:nvSpPr>
          <p:cNvPr id="34" name="Text 32"/>
          <p:cNvSpPr/>
          <p:nvPr/>
        </p:nvSpPr>
        <p:spPr>
          <a:xfrm>
            <a:off x="854964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— open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34440" y="4709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Trajectory Program  —  ITP — placement TBD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66760" y="4892040"/>
            <a:ext cx="91440" cy="91440"/>
          </a:xfrm>
          <a:prstGeom prst="ellipse">
            <a:avLst/>
          </a:prstGeom>
          <a:solidFill>
            <a:srgbClr val="4C5C2A"/>
          </a:solidFill>
          <a:ln/>
        </p:spPr>
      </p:sp>
      <p:sp>
        <p:nvSpPr>
          <p:cNvPr id="39" name="Text 37"/>
          <p:cNvSpPr/>
          <p:nvPr/>
        </p:nvSpPr>
        <p:spPr>
          <a:xfrm>
            <a:off x="8549640" y="4709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— open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34440" y="5166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366760" y="5349240"/>
            <a:ext cx="91440" cy="91440"/>
          </a:xfrm>
          <a:prstGeom prst="ellipse">
            <a:avLst/>
          </a:prstGeom>
          <a:solidFill>
            <a:srgbClr val="4C5C2A"/>
          </a:solidFill>
          <a:ln/>
        </p:spPr>
      </p:sp>
      <p:sp>
        <p:nvSpPr>
          <p:cNvPr id="44" name="Text 42"/>
          <p:cNvSpPr/>
          <p:nvPr/>
        </p:nvSpPr>
        <p:spPr>
          <a:xfrm>
            <a:off x="854964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— update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623560"/>
            <a:ext cx="11091672" cy="0"/>
          </a:xfrm>
          <a:prstGeom prst="line">
            <a:avLst/>
          </a:prstGeom>
          <a:noFill/>
          <a:ln w="9525">
            <a:solidFill>
              <a:srgbClr val="DAD3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34440" y="5623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 Top Companies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66760" y="5806440"/>
            <a:ext cx="91440" cy="91440"/>
          </a:xfrm>
          <a:prstGeom prst="ellipse">
            <a:avLst/>
          </a:prstGeom>
          <a:solidFill>
            <a:srgbClr val="4C5C2A"/>
          </a:solidFill>
          <a:ln/>
        </p:spPr>
      </p:sp>
      <p:sp>
        <p:nvSpPr>
          <p:cNvPr id="49" name="Text 47"/>
          <p:cNvSpPr/>
          <p:nvPr/>
        </p:nvSpPr>
        <p:spPr>
          <a:xfrm>
            <a:off x="854964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— update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Site Map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BROCHURE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spreads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only names website sections explicitly — nothing below is confirmed. Starting proposals for print.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88900" dist="25400" dir="5400000">
              <a:srgbClr val="1E24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DE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Faculty + Campus Life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bios with mentorship proof, paired with a photo-led hostel/campus spread.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88900" dist="25400" dir="5400000">
              <a:srgbClr val="1E243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3774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BE7E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77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4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Immersion + Credentials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6344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Singapore/Germany certification map, plus the Harvard/KPMG/EFMD logo bar with one-line explainers.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solid"/>
          </a:ln>
          <a:effectLst>
            <a:outerShdw sx="100000" sy="100000" kx="0" ky="0" algn="bl" rotWithShape="0" blurRad="88900" dist="25400" dir="5400000">
              <a:srgbClr val="1E2438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3774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E7D2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377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C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0392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%, top recruiters, highest package, ITP explained, one named student success story.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Brochure Spreads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7A36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these into the room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prompts for the working session.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3I framework show up as a literal line in the hero, or does it stay a filter that shapes every section without ever being named “3I” on the page?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099816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 sections (Global Pathways, Industry Trajectory Program) have no home — dedicated modules, or fold into existing ones to avoid a 9-section homepage?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4069080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each pillar carry a consistent visual tag (icon, color, label) across sections, so a returning visitor recognises “this is an International claim” at a glance?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5038344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one proof format we standardise on — faculty credibility, certification legitimacy, placement numbers — so the page doesn't mix testimonials, logos and stats inconsistently?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Website 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45A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TEAM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these into the room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prompts for the working session.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needed before anything ships: exact, legally-safe wording for the Harvard, KPMG, and EFMD claims — what each is actually entitled to say.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099816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ITP stand for, and is there an approved one-line description to use consistently across web, brochure, and social?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4069080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campus messaging (“24×7,” “green residential campus”) need a supporting stat or student quote to avoid reading as generic prospectus language?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5038344"/>
            <a:ext cx="9966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tagline that compresses all three I's into one line for headlines/social, distinct from spelling out “Individual, International, Industry” every time?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PR Team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0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POINTS, NOT FINAL CALLS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ideas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Tagline directions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8775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“Known by name. Known worldwide.”  /  “Your trajectory starts on day one.”  /  “Individual mentors. International standards. Industry from year one.”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58775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literal “I” as a running motif — three marks, one per pillar, each a different accent colour — echoed in nav icons, section dividers, and the brochure cover.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22960" y="4453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format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7375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“claim card” (message + who says so + the number behind it) used identically for faculty, certifications, and placement — so the page reads as one system.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425196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BFAF6"/>
          </a:solidFill>
          <a:ln w="12700">
            <a:solidFill>
              <a:srgbClr val="DAD3C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400800" y="4453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angle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87375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real student across all three pillars — mentored by a named faculty member, certified abroad, placed by year one — as the through-line for a launch video or brochure narrative.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Ideas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4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BEFORE PUBLISHING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close out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607040" cy="886968"/>
          </a:xfrm>
          <a:prstGeom prst="roundRect">
            <a:avLst>
              <a:gd name="adj" fmla="val 5155"/>
            </a:avLst>
          </a:prstGeom>
          <a:solidFill>
            <a:srgbClr val="FBFAF6"/>
          </a:solidFill>
          <a:ln/>
          <a:effectLst>
            <a:outerShdw sx="100000" sy="100000" kx="0" ky="0" algn="bl" rotWithShape="0" blurRad="63500" dist="12700" dir="5400000">
              <a:srgbClr val="5C4419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290572"/>
            <a:ext cx="329184" cy="329184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2905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84832"/>
            <a:ext cx="9601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/ KPMG naming rights and exact permitted phrasing — confirm with the partnerships/legal contact before web or print copy is finalised.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607040" cy="886968"/>
          </a:xfrm>
          <a:prstGeom prst="roundRect">
            <a:avLst>
              <a:gd name="adj" fmla="val 5155"/>
            </a:avLst>
          </a:prstGeom>
          <a:solidFill>
            <a:srgbClr val="FBFAF6"/>
          </a:solidFill>
          <a:ln/>
          <a:effectLst>
            <a:outerShdw sx="100000" sy="100000" kx="0" ky="0" algn="bl" rotWithShape="0" blurRad="63500" dist="12700" dir="5400000">
              <a:srgbClr val="5C44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3342132"/>
            <a:ext cx="329184" cy="329184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3421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9601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EFMD accreditation status — confirm current standing (accredited / in-process / candidate), since each carries different disclosure obligations.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0607040" cy="886968"/>
          </a:xfrm>
          <a:prstGeom prst="roundRect">
            <a:avLst>
              <a:gd name="adj" fmla="val 5155"/>
            </a:avLst>
          </a:prstGeom>
          <a:solidFill>
            <a:srgbClr val="FBFAF6"/>
          </a:solidFill>
          <a:ln/>
          <a:effectLst>
            <a:outerShdw sx="100000" sy="100000" kx="0" ky="0" algn="bl" rotWithShape="0" blurRad="63500" dist="12700" dir="5400000">
              <a:srgbClr val="5C44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4393692"/>
            <a:ext cx="329184" cy="329184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3936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187952"/>
            <a:ext cx="9601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 acronym expansion and one approved description.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607040" cy="886968"/>
          </a:xfrm>
          <a:prstGeom prst="roundRect">
            <a:avLst>
              <a:gd name="adj" fmla="val 5155"/>
            </a:avLst>
          </a:prstGeom>
          <a:solidFill>
            <a:srgbClr val="FBFAF6"/>
          </a:solidFill>
          <a:ln/>
          <a:effectLst>
            <a:outerShdw sx="100000" sy="100000" kx="0" ky="0" algn="bl" rotWithShape="0" blurRad="63500" dist="12700" dir="5400000">
              <a:srgbClr val="5C441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5445252"/>
            <a:ext cx="329184" cy="329184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54452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239512"/>
            <a:ext cx="9601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company” in the ITP claim vs. “top companies” in Placement — same bar, or does each pillar mean something different? Worth aligning so the two sections don't contradict each other.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8545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 MESSAGING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8640" y="210312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i="1" dirty="0">
                <a:solidFill>
                  <a:srgbClr val="D98BA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i="1" dirty="0">
                <a:solidFill>
                  <a:srgbClr val="7FB2D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463040" y="3474720"/>
            <a:ext cx="1828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i="1" dirty="0">
                <a:solidFill>
                  <a:srgbClr val="A2BC72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4206240" y="21488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filter. Every channel.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206240" y="29718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Attention. International. Industry Trajectory. Same three ideas, on the home page and in the brochure — nothing else needs its own voice.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06240" y="4023360"/>
            <a:ext cx="109728" cy="109728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8" name="Text 6"/>
          <p:cNvSpPr/>
          <p:nvPr/>
        </p:nvSpPr>
        <p:spPr>
          <a:xfrm>
            <a:off x="4462272" y="3886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team — land the two open sections in the IA before wireframes start.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4526280"/>
            <a:ext cx="109728" cy="109728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4389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team — clear the Harvard / KPMG / EFMD wording with legal / partnerships.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5029200"/>
            <a:ext cx="109728" cy="109728"/>
          </a:xfrm>
          <a:prstGeom prst="ellipse">
            <a:avLst/>
          </a:prstGeom>
          <a:solidFill>
            <a:srgbClr val="A0722C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4892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— agree the ITP acronym and one shared description across every channel.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6126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brief — claude.ai/code/artifact/b1994ade-8253-4627-aa6b-8caeb5a1ad86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2026-08-24T05:24:21Z</dcterms:created>
  <dcterms:modified xsi:type="dcterms:W3CDTF">2026-08-24T05:24:21Z</dcterms:modified>
</cp:coreProperties>
</file>